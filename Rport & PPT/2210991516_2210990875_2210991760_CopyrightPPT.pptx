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57" r:id="rId6"/>
    <p:sldId id="268" r:id="rId7"/>
    <p:sldId id="280" r:id="rId8"/>
    <p:sldId id="281" r:id="rId9"/>
    <p:sldId id="282" r:id="rId10"/>
    <p:sldId id="270" r:id="rId11"/>
    <p:sldId id="271" r:id="rId12"/>
    <p:sldId id="272" r:id="rId13"/>
    <p:sldId id="275" r:id="rId14"/>
    <p:sldId id="273" r:id="rId15"/>
    <p:sldId id="274" r:id="rId16"/>
    <p:sldId id="283" r:id="rId17"/>
    <p:sldId id="279"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94660"/>
  </p:normalViewPr>
  <p:slideViewPr>
    <p:cSldViewPr snapToGrid="0" showGuides="1">
      <p:cViewPr varScale="1">
        <p:scale>
          <a:sx n="78" d="100"/>
          <a:sy n="78" d="100"/>
        </p:scale>
        <p:origin x="1219"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t>5/8/2026</a:t>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t>‹#›</a:t>
            </a:fld>
            <a:endParaRPr lang="en-US"/>
          </a:p>
        </p:txBody>
      </p:sp>
    </p:spTree>
    <p:extLst>
      <p:ext uri="{BB962C8B-B14F-4D97-AF65-F5344CB8AC3E}">
        <p14:creationId xmlns:p14="http://schemas.microsoft.com/office/powerpoint/2010/main" val="88507677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t>5/8/2026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t>‹#›</a:t>
            </a:fld>
            <a:endParaRPr lang="en-US"/>
          </a:p>
        </p:txBody>
      </p:sp>
    </p:spTree>
    <p:extLst>
      <p:ext uri="{BB962C8B-B14F-4D97-AF65-F5344CB8AC3E}">
        <p14:creationId xmlns:p14="http://schemas.microsoft.com/office/powerpoint/2010/main" val="42914727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t>1</a:t>
            </a:fld>
            <a:endParaRPr lang="en-US"/>
          </a:p>
        </p:txBody>
      </p:sp>
      <p:sp>
        <p:nvSpPr>
          <p:cNvPr id="5" name="Footer Placeholder 4"/>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3434426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10"/>
          </p:nvPr>
        </p:nvSpPr>
        <p:spPr/>
        <p:txBody>
          <a:bodyPr/>
          <a:lstStyle/>
          <a:p>
            <a:r>
              <a:rPr lang="en-US"/>
              <a:t>Name of the faculty [Group: G00] [Sem:2nd]</a:t>
            </a:r>
          </a:p>
        </p:txBody>
      </p:sp>
      <p:sp>
        <p:nvSpPr>
          <p:cNvPr id="5" name="Slide Number Placeholder 4"/>
          <p:cNvSpPr>
            <a:spLocks noGrp="1"/>
          </p:cNvSpPr>
          <p:nvPr>
            <p:ph type="sldNum" sz="quarter" idx="11"/>
          </p:nvPr>
        </p:nvSpPr>
        <p:spPr/>
        <p:txBody>
          <a:bodyPr/>
          <a:lstStyle/>
          <a:p>
            <a:fld id="{C5A7523A-12D4-4E0F-9409-B3F845B48333}" type="slidenum">
              <a:rPr lang="en-US" smtClean="0"/>
              <a:t>7</a:t>
            </a:fld>
            <a:endParaRPr lang="en-US"/>
          </a:p>
        </p:txBody>
      </p:sp>
    </p:spTree>
    <p:extLst>
      <p:ext uri="{BB962C8B-B14F-4D97-AF65-F5344CB8AC3E}">
        <p14:creationId xmlns:p14="http://schemas.microsoft.com/office/powerpoint/2010/main" val="655214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panose="020B0604020202020204"/>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a:fillRect/>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a:fillRect/>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a:fillRect/>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a:fillRect/>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a:fillRect/>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panose="020F0502020204030204"/>
                <a:ea typeface="MS PGothic" panose="020B0600070205080204" charset="-128"/>
              </a:rPr>
              <a:t>Click to edit Master title style</a:t>
            </a:r>
            <a:endParaRPr lang="en-US" sz="3000" b="0" strike="noStrike" spc="-1" dirty="0">
              <a:solidFill>
                <a:srgbClr val="000000"/>
              </a:solidFill>
              <a:latin typeface="Arial" panose="020B0604020202020204"/>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2900" indent="-342900">
              <a:lnSpc>
                <a:spcPct val="100000"/>
              </a:lnSpc>
              <a:spcBef>
                <a:spcPts val="640"/>
              </a:spcBef>
              <a:buClr>
                <a:srgbClr val="000000"/>
              </a:buClr>
              <a:buFont typeface="Arial" panose="020B0604020202020204"/>
              <a:buChar char="•"/>
            </a:pPr>
            <a:r>
              <a:rPr lang="en-US" sz="3200" b="0" strike="noStrike" spc="-1" dirty="0">
                <a:solidFill>
                  <a:srgbClr val="000000"/>
                </a:solidFill>
                <a:latin typeface="Calibri" panose="020F0502020204030204"/>
                <a:ea typeface="MS PGothic" panose="020B0600070205080204" charset="-128"/>
              </a:rPr>
              <a:t>Click to edit Master text styles</a:t>
            </a:r>
            <a:endParaRPr lang="en-US" sz="3200" b="0" strike="noStrike" spc="-1" dirty="0">
              <a:solidFill>
                <a:srgbClr val="000000"/>
              </a:solidFill>
              <a:latin typeface="Calibri" panose="020F0502020204030204"/>
            </a:endParaRPr>
          </a:p>
          <a:p>
            <a:pPr marL="742950" lvl="1" indent="-285750">
              <a:lnSpc>
                <a:spcPct val="100000"/>
              </a:lnSpc>
              <a:spcBef>
                <a:spcPts val="560"/>
              </a:spcBef>
              <a:buClr>
                <a:srgbClr val="000000"/>
              </a:buClr>
              <a:buFont typeface="Arial" panose="020B0604020202020204"/>
              <a:buChar char="–"/>
            </a:pPr>
            <a:r>
              <a:rPr lang="en-US" sz="2800" b="0" strike="noStrike" spc="-1" dirty="0">
                <a:solidFill>
                  <a:srgbClr val="000000"/>
                </a:solidFill>
                <a:latin typeface="Calibri" panose="020F0502020204030204"/>
                <a:ea typeface="MS PGothic" panose="020B0600070205080204" charset="-128"/>
              </a:rPr>
              <a:t>Second level</a:t>
            </a:r>
            <a:endParaRPr lang="en-US" sz="2800" b="0" strike="noStrike" spc="-1" dirty="0">
              <a:solidFill>
                <a:srgbClr val="000000"/>
              </a:solidFill>
              <a:latin typeface="Calibri" panose="020F0502020204030204"/>
            </a:endParaRPr>
          </a:p>
          <a:p>
            <a:pPr marL="1143000" lvl="2" indent="-227965">
              <a:lnSpc>
                <a:spcPct val="100000"/>
              </a:lnSpc>
              <a:spcBef>
                <a:spcPts val="480"/>
              </a:spcBef>
              <a:buClr>
                <a:srgbClr val="000000"/>
              </a:buClr>
              <a:buFont typeface="Arial" panose="020B0604020202020204"/>
              <a:buChar char="•"/>
            </a:pPr>
            <a:r>
              <a:rPr lang="en-US" sz="2400" b="0" strike="noStrike" spc="-1" dirty="0">
                <a:solidFill>
                  <a:srgbClr val="000000"/>
                </a:solidFill>
                <a:latin typeface="Calibri" panose="020F0502020204030204"/>
                <a:ea typeface="MS PGothic" panose="020B0600070205080204" charset="-128"/>
              </a:rPr>
              <a:t>Third level</a:t>
            </a:r>
            <a:endParaRPr lang="en-US" sz="2400" b="0" strike="noStrike" spc="-1" dirty="0">
              <a:solidFill>
                <a:srgbClr val="000000"/>
              </a:solidFill>
              <a:latin typeface="Calibri" panose="020F0502020204030204"/>
            </a:endParaRPr>
          </a:p>
          <a:p>
            <a:pPr marL="1600200" lvl="3"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Fourth level</a:t>
            </a:r>
            <a:endParaRPr lang="en-US" sz="2000" b="0" strike="noStrike" spc="-1" dirty="0">
              <a:solidFill>
                <a:srgbClr val="000000"/>
              </a:solidFill>
              <a:latin typeface="Calibri" panose="020F0502020204030204"/>
            </a:endParaRPr>
          </a:p>
          <a:p>
            <a:pPr marL="2057400" lvl="4" indent="-227965">
              <a:lnSpc>
                <a:spcPct val="100000"/>
              </a:lnSpc>
              <a:spcBef>
                <a:spcPts val="400"/>
              </a:spcBef>
              <a:buClr>
                <a:srgbClr val="000000"/>
              </a:buClr>
              <a:buFont typeface="Arial" panose="020B0604020202020204"/>
              <a:buChar char="»"/>
            </a:pPr>
            <a:r>
              <a:rPr lang="en-US" sz="2000" b="0" strike="noStrike" spc="-1" dirty="0">
                <a:solidFill>
                  <a:srgbClr val="000000"/>
                </a:solidFill>
                <a:latin typeface="Calibri" panose="020F0502020204030204"/>
                <a:ea typeface="MS PGothic" panose="020B0600070205080204" charset="-128"/>
              </a:rPr>
              <a:t>Fifth level</a:t>
            </a:r>
            <a:endParaRPr lang="en-US" sz="2000" b="0" strike="noStrike" spc="-1" dirty="0">
              <a:solidFill>
                <a:srgbClr val="000000"/>
              </a:solidFill>
              <a:latin typeface="Calibri" panose="020F0502020204030204"/>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panose="02020603050405020304"/>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panose="02020603050405020304"/>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panose="020F0502020204030204"/>
                <a:ea typeface="MS PGothic" panose="020B0600070205080204" charset="-128"/>
              </a:rPr>
              <a:t>‹#›</a:t>
            </a:fld>
            <a:endParaRPr lang="en-GB" sz="12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20https:/www.mongodb.com/docs/" TargetMode="External"/><Relationship Id="rId2" Type="http://schemas.openxmlformats.org/officeDocument/2006/relationships/hyperlink" Target="https://reactjs.org/" TargetMode="External"/><Relationship Id="rId1" Type="http://schemas.openxmlformats.org/officeDocument/2006/relationships/slideLayout" Target="../slideLayouts/slideLayout3.xml"/><Relationship Id="rId5" Type="http://schemas.openxmlformats.org/officeDocument/2006/relationships/hyperlink" Target="%20https:/docs.github.com/en/get-started%20" TargetMode="External"/><Relationship Id="rId4" Type="http://schemas.openxmlformats.org/officeDocument/2006/relationships/hyperlink" Target="https://nodejs.org/en/docs/%2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US" b="1" dirty="0">
                <a:latin typeface="Times New Roman" panose="02020603050405020304" pitchFamily="18" charset="0"/>
                <a:ea typeface="Calibri" panose="020F0502020204030204" pitchFamily="34" charset="0"/>
                <a:cs typeface="Times New Roman" panose="02020603050405020304" pitchFamily="18" charset="0"/>
              </a:rPr>
              <a:t>Project Presentation </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3200" dirty="0"/>
              <a:t>Secure Online Examination System using AI Proctoring</a:t>
            </a:r>
            <a:endParaRPr lang="en-US" sz="3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Dilpreet Singh 2210991516</a:t>
            </a: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Kartik Thakur 220991760</a:t>
            </a: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Sunaina 2210990875</a:t>
            </a:r>
            <a:endParaRPr lang="en-IN" sz="2000" dirty="0"/>
          </a:p>
          <a:p>
            <a:pPr algn="ctr">
              <a:lnSpc>
                <a:spcPct val="100000"/>
              </a:lnSpc>
              <a:spcBef>
                <a:spcPts val="400"/>
              </a:spcBef>
            </a:pPr>
            <a:r>
              <a:rPr lang="en-IN" sz="2000" dirty="0"/>
              <a:t>    </a:t>
            </a:r>
            <a:endParaRPr lang="en-US" sz="2000" b="0" strike="noStrike" spc="-1" dirty="0">
              <a:solidFill>
                <a:srgbClr val="000000"/>
              </a:solidFill>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panose="020B0600070205080204" charset="-128"/>
                <a:cs typeface="Times New Roman" panose="02020603050405020304" pitchFamily="18" charset="0"/>
              </a:rPr>
              <a:t>Supervised By</a:t>
            </a:r>
          </a:p>
          <a:p>
            <a:pPr algn="ctr">
              <a:lnSpc>
                <a:spcPct val="100000"/>
              </a:lnSpc>
              <a:spcBef>
                <a:spcPts val="400"/>
              </a:spcBef>
            </a:pPr>
            <a:r>
              <a:rPr lang="en-IN" sz="2000" dirty="0" err="1"/>
              <a:t>Dr.</a:t>
            </a:r>
            <a:r>
              <a:rPr lang="en-IN" sz="2000" dirty="0"/>
              <a:t> </a:t>
            </a:r>
            <a:r>
              <a:rPr lang="en-IN" sz="2000" dirty="0" err="1"/>
              <a:t>Isha</a:t>
            </a:r>
            <a:r>
              <a:rPr lang="en-IN" sz="2000" dirty="0"/>
              <a:t> </a:t>
            </a:r>
            <a:r>
              <a:rPr lang="en-IN" sz="2000" dirty="0" err="1"/>
              <a:t>Kansal</a:t>
            </a: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panose="020B0600070205080204" charset="-128"/>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panose="020B0600070205080204" charset="-128"/>
                <a:cs typeface="Times New Roman" panose="02020603050405020304" pitchFamily="18" charset="0"/>
              </a:rPr>
              <a:t>Department of </a:t>
            </a: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panose="020B0600070205080204" charset="-128"/>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panose="020F0502020204030204"/>
            </a:endParaRPr>
          </a:p>
          <a:p>
            <a:pPr>
              <a:lnSpc>
                <a:spcPct val="100000"/>
              </a:lnSpc>
              <a:spcBef>
                <a:spcPts val="640"/>
              </a:spcBef>
            </a:pPr>
            <a:endParaRPr lang="en-US" sz="2000" b="0" strike="noStrike" spc="-1" dirty="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Content Table</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t>2</a:t>
            </a:fld>
            <a:endParaRPr lang="en-GB" sz="1200" b="0" strike="noStrike" spc="-1">
              <a:latin typeface="Times New Roman" panose="02020603050405020304"/>
            </a:endParaRPr>
          </a:p>
        </p:txBody>
      </p:sp>
      <p:sp>
        <p:nvSpPr>
          <p:cNvPr id="5" name="TextShape 2"/>
          <p:cNvSpPr txBox="1"/>
          <p:nvPr/>
        </p:nvSpPr>
        <p:spPr>
          <a:xfrm>
            <a:off x="457200" y="1080656"/>
            <a:ext cx="8545528" cy="4867658"/>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panose="020F0502020204030204"/>
            </a:endParaRPr>
          </a:p>
          <a:p>
            <a:pPr marL="457200" lvl="0" indent="-317500">
              <a:buClr>
                <a:srgbClr val="000000"/>
              </a:buClr>
              <a:buSzPts val="1400"/>
              <a:buChar char="●"/>
            </a:pPr>
            <a:endParaRPr lang="en-US" sz="1900" b="0" strike="noStrike" spc="-1" dirty="0">
              <a:solidFill>
                <a:srgbClr val="000000"/>
              </a:solidFill>
              <a:latin typeface="Calibri" panose="020F0502020204030204"/>
            </a:endParaRPr>
          </a:p>
          <a:p>
            <a:pPr>
              <a:lnSpc>
                <a:spcPct val="100000"/>
              </a:lnSpc>
              <a:spcBef>
                <a:spcPts val="400"/>
              </a:spcBef>
            </a:pPr>
            <a:endParaRPr lang="en-US" sz="1900"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5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a:p>
            <a:pPr>
              <a:lnSpc>
                <a:spcPct val="100000"/>
              </a:lnSpc>
              <a:spcBef>
                <a:spcPts val="400"/>
              </a:spcBef>
            </a:pPr>
            <a:endParaRPr lang="en-US" sz="1900" b="0" strike="noStrike" spc="-1" dirty="0">
              <a:solidFill>
                <a:srgbClr val="000000"/>
              </a:solidFill>
              <a:latin typeface="Calibri" panose="020F0502020204030204"/>
            </a:endParaRPr>
          </a:p>
        </p:txBody>
      </p:sp>
      <p:graphicFrame>
        <p:nvGraphicFramePr>
          <p:cNvPr id="4" name="Table 3"/>
          <p:cNvGraphicFramePr>
            <a:graphicFrameLocks noGrp="1"/>
          </p:cNvGraphicFramePr>
          <p:nvPr>
            <p:extLst>
              <p:ext uri="{D42A27DB-BD31-4B8C-83A1-F6EECF244321}">
                <p14:modId xmlns:p14="http://schemas.microsoft.com/office/powerpoint/2010/main" val="2436852477"/>
              </p:ext>
            </p:extLst>
          </p:nvPr>
        </p:nvGraphicFramePr>
        <p:xfrm>
          <a:off x="665017" y="1245926"/>
          <a:ext cx="7592292" cy="4048388"/>
        </p:xfrm>
        <a:graphic>
          <a:graphicData uri="http://schemas.openxmlformats.org/drawingml/2006/table">
            <a:tbl>
              <a:tblPr firstRow="1" firstCol="1" bandRow="1">
                <a:tableStyleId>{5C22544A-7EE6-4342-B048-85BDC9FD1C3A}</a:tableStyleId>
              </a:tblPr>
              <a:tblGrid>
                <a:gridCol w="682205">
                  <a:extLst>
                    <a:ext uri="{9D8B030D-6E8A-4147-A177-3AD203B41FA5}">
                      <a16:colId xmlns:a16="http://schemas.microsoft.com/office/drawing/2014/main" val="20000"/>
                    </a:ext>
                  </a:extLst>
                </a:gridCol>
                <a:gridCol w="4399437">
                  <a:extLst>
                    <a:ext uri="{9D8B030D-6E8A-4147-A177-3AD203B41FA5}">
                      <a16:colId xmlns:a16="http://schemas.microsoft.com/office/drawing/2014/main" val="20001"/>
                    </a:ext>
                  </a:extLst>
                </a:gridCol>
                <a:gridCol w="2510650">
                  <a:extLst>
                    <a:ext uri="{9D8B030D-6E8A-4147-A177-3AD203B41FA5}">
                      <a16:colId xmlns:a16="http://schemas.microsoft.com/office/drawing/2014/main" val="20002"/>
                    </a:ext>
                  </a:extLst>
                </a:gridCol>
              </a:tblGrid>
              <a:tr h="485998">
                <a:tc>
                  <a:txBody>
                    <a:bodyPr/>
                    <a:lstStyle/>
                    <a:p>
                      <a:pPr marL="3175" marR="55245" indent="-6350" algn="l">
                        <a:lnSpc>
                          <a:spcPct val="107000"/>
                        </a:lnSpc>
                        <a:spcAft>
                          <a:spcPts val="20"/>
                        </a:spcAft>
                      </a:pPr>
                      <a:r>
                        <a:rPr lang="en-IN" sz="1200" kern="100" dirty="0">
                          <a:effectLst/>
                        </a:rPr>
                        <a:t>S. No. </a:t>
                      </a:r>
                      <a:endParaRPr lang="en-IN" sz="1200" kern="100" dirty="0">
                        <a:solidFill>
                          <a:srgbClr val="000000"/>
                        </a:solidFill>
                        <a:effectLst/>
                        <a:latin typeface="Times New Roman" panose="02020603050405020304" pitchFamily="18" charset="0"/>
                        <a:ea typeface="Times New Roman" panose="02020603050405020304" pitchFamily="18" charset="0"/>
                      </a:endParaRPr>
                    </a:p>
                  </a:txBody>
                  <a:tcPr marL="73025" marR="38100" marT="7620" marB="0"/>
                </a:tc>
                <a:tc>
                  <a:txBody>
                    <a:bodyPr/>
                    <a:lstStyle/>
                    <a:p>
                      <a:pPr marL="70485" marR="25400" indent="-6350" algn="ctr">
                        <a:lnSpc>
                          <a:spcPct val="107000"/>
                        </a:lnSpc>
                        <a:spcAft>
                          <a:spcPts val="20"/>
                        </a:spcAft>
                      </a:pPr>
                      <a:r>
                        <a:rPr lang="en-IN" sz="1200" kern="100" dirty="0">
                          <a:effectLst/>
                        </a:rPr>
                        <a:t>Title </a:t>
                      </a:r>
                      <a:endParaRPr lang="en-IN" sz="1200" kern="100" dirty="0">
                        <a:solidFill>
                          <a:srgbClr val="000000"/>
                        </a:solidFill>
                        <a:effectLst/>
                        <a:latin typeface="Times New Roman" panose="02020603050405020304" pitchFamily="18" charset="0"/>
                        <a:ea typeface="Times New Roman" panose="02020603050405020304" pitchFamily="18" charset="0"/>
                      </a:endParaRPr>
                    </a:p>
                  </a:txBody>
                  <a:tcPr marL="73025" marR="38100" marT="7620" marB="0"/>
                </a:tc>
                <a:tc>
                  <a:txBody>
                    <a:bodyPr/>
                    <a:lstStyle/>
                    <a:p>
                      <a:pPr marL="70485" marR="18415" indent="-6350" algn="ctr">
                        <a:lnSpc>
                          <a:spcPct val="107000"/>
                        </a:lnSpc>
                        <a:spcAft>
                          <a:spcPts val="20"/>
                        </a:spcAft>
                      </a:pPr>
                      <a:r>
                        <a:rPr lang="en-IN" sz="1200" kern="100">
                          <a:effectLst/>
                        </a:rPr>
                        <a:t>Page No. </a:t>
                      </a:r>
                      <a:endParaRPr lang="en-IN" sz="1200" kern="100">
                        <a:solidFill>
                          <a:srgbClr val="000000"/>
                        </a:solidFill>
                        <a:effectLst/>
                        <a:latin typeface="Times New Roman" panose="02020603050405020304" pitchFamily="18" charset="0"/>
                        <a:ea typeface="Times New Roman" panose="02020603050405020304" pitchFamily="18" charset="0"/>
                      </a:endParaRPr>
                    </a:p>
                  </a:txBody>
                  <a:tcPr marL="73025" marR="38100" marT="7620" marB="0"/>
                </a:tc>
                <a:extLst>
                  <a:ext uri="{0D108BD9-81ED-4DB2-BD59-A6C34878D82A}">
                    <a16:rowId xmlns:a16="http://schemas.microsoft.com/office/drawing/2014/main" val="10000"/>
                  </a:ext>
                </a:extLst>
              </a:tr>
              <a:tr h="337711">
                <a:tc>
                  <a:txBody>
                    <a:bodyPr/>
                    <a:lstStyle/>
                    <a:p>
                      <a:pPr marL="70485" marR="16510" indent="-6350" algn="ctr">
                        <a:lnSpc>
                          <a:spcPct val="107000"/>
                        </a:lnSpc>
                        <a:spcAft>
                          <a:spcPts val="20"/>
                        </a:spcAft>
                      </a:pPr>
                      <a:r>
                        <a:rPr lang="en-IN" sz="1600" kern="100" dirty="0">
                          <a:effectLst/>
                          <a:latin typeface="Times New Roman" panose="02020603050405020304" pitchFamily="18" charset="0"/>
                          <a:cs typeface="Times New Roman" panose="02020603050405020304" pitchFamily="18" charset="0"/>
                        </a:rPr>
                        <a:t>1 </a:t>
                      </a:r>
                      <a:endPar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tc>
                  <a:txBody>
                    <a:bodyPr/>
                    <a:lstStyle/>
                    <a:p>
                      <a:pPr marL="70485" marR="55245" lvl="0" indent="-6350" algn="l" defTabSz="914400" rtl="0" eaLnBrk="1" fontAlgn="auto" latinLnBrk="0" hangingPunct="1">
                        <a:lnSpc>
                          <a:spcPct val="107000"/>
                        </a:lnSpc>
                        <a:spcBef>
                          <a:spcPts val="0"/>
                        </a:spcBef>
                        <a:spcAft>
                          <a:spcPts val="20"/>
                        </a:spcAft>
                        <a:buClrTx/>
                        <a:buSzTx/>
                        <a:buFontTx/>
                        <a:buNone/>
                        <a:defRPr/>
                      </a:pPr>
                      <a:r>
                        <a:rPr lang="en-IN" sz="1800" kern="100" dirty="0">
                          <a:effectLst/>
                          <a:latin typeface="Times New Roman" panose="02020603050405020304" pitchFamily="18" charset="0"/>
                          <a:cs typeface="Times New Roman" panose="02020603050405020304" pitchFamily="18" charset="0"/>
                        </a:rPr>
                        <a:t>Introduction to the project </a:t>
                      </a: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tc>
                  <a:txBody>
                    <a:bodyPr/>
                    <a:lstStyle/>
                    <a:p>
                      <a:pPr marL="70485" marR="19685" indent="-6350" algn="ctr">
                        <a:lnSpc>
                          <a:spcPct val="107000"/>
                        </a:lnSpc>
                        <a:spcAft>
                          <a:spcPts val="20"/>
                        </a:spcAft>
                      </a:pPr>
                      <a:r>
                        <a:rPr lang="en-IN" sz="1600" kern="100" dirty="0">
                          <a:effectLst/>
                          <a:latin typeface="Times New Roman" panose="02020603050405020304" pitchFamily="18" charset="0"/>
                          <a:cs typeface="Times New Roman" panose="02020603050405020304" pitchFamily="18" charset="0"/>
                        </a:rPr>
                        <a:t>3 </a:t>
                      </a:r>
                      <a:endPar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extLst>
                  <a:ext uri="{0D108BD9-81ED-4DB2-BD59-A6C34878D82A}">
                    <a16:rowId xmlns:a16="http://schemas.microsoft.com/office/drawing/2014/main" val="10001"/>
                  </a:ext>
                </a:extLst>
              </a:tr>
              <a:tr h="337711">
                <a:tc>
                  <a:txBody>
                    <a:bodyPr/>
                    <a:lstStyle/>
                    <a:p>
                      <a:pPr marL="70485" marR="16510" indent="-6350" algn="ctr">
                        <a:lnSpc>
                          <a:spcPct val="107000"/>
                        </a:lnSpc>
                        <a:spcAft>
                          <a:spcPts val="20"/>
                        </a:spcAft>
                        <a:buNone/>
                      </a:pPr>
                      <a:r>
                        <a:rPr lang="en-IN" sz="16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73025" marR="38100" marT="7620" marB="0"/>
                </a:tc>
                <a:tc>
                  <a:txBody>
                    <a:bodyPr/>
                    <a:lstStyle/>
                    <a:p>
                      <a:pPr marL="70485" marR="55245" lvl="0" indent="-6350" algn="l" defTabSz="914400" rtl="0" eaLnBrk="1" fontAlgn="auto" latinLnBrk="0" hangingPunct="1">
                        <a:lnSpc>
                          <a:spcPct val="107000"/>
                        </a:lnSpc>
                        <a:spcBef>
                          <a:spcPts val="0"/>
                        </a:spcBef>
                        <a:spcAft>
                          <a:spcPts val="20"/>
                        </a:spcAft>
                        <a:buClrTx/>
                        <a:buSzTx/>
                        <a:buFontTx/>
                        <a:buNone/>
                        <a:defRPr/>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Problem Statement</a:t>
                      </a:r>
                    </a:p>
                  </a:txBody>
                  <a:tcPr marL="73025" marR="38100" marT="7620" marB="0"/>
                </a:tc>
                <a:tc>
                  <a:txBody>
                    <a:bodyPr/>
                    <a:lstStyle/>
                    <a:p>
                      <a:pPr marL="70485" marR="19685" indent="-6350" algn="ctr">
                        <a:lnSpc>
                          <a:spcPct val="107000"/>
                        </a:lnSpc>
                        <a:spcAft>
                          <a:spcPts val="20"/>
                        </a:spcAft>
                        <a:buNone/>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73025" marR="38100" marT="7620" marB="0"/>
                </a:tc>
                <a:extLst>
                  <a:ext uri="{0D108BD9-81ED-4DB2-BD59-A6C34878D82A}">
                    <a16:rowId xmlns:a16="http://schemas.microsoft.com/office/drawing/2014/main" val="10002"/>
                  </a:ext>
                </a:extLst>
              </a:tr>
              <a:tr h="337711">
                <a:tc>
                  <a:txBody>
                    <a:bodyPr/>
                    <a:lstStyle/>
                    <a:p>
                      <a:pPr marL="70485" marR="16510" indent="-6350" algn="ctr">
                        <a:lnSpc>
                          <a:spcPct val="107000"/>
                        </a:lnSpc>
                        <a:spcAft>
                          <a:spcPts val="20"/>
                        </a:spcAft>
                        <a:buNone/>
                      </a:pPr>
                      <a:r>
                        <a:rPr lang="en-IN" sz="16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73025" marR="38100" marT="7620" marB="0"/>
                </a:tc>
                <a:tc>
                  <a:txBody>
                    <a:bodyPr/>
                    <a:lstStyle/>
                    <a:p>
                      <a:pPr marL="70485" marR="55245" lvl="0" indent="-6350" algn="l" defTabSz="914400" rtl="0" eaLnBrk="1" fontAlgn="auto" latinLnBrk="0" hangingPunct="1">
                        <a:lnSpc>
                          <a:spcPct val="107000"/>
                        </a:lnSpc>
                        <a:spcBef>
                          <a:spcPts val="0"/>
                        </a:spcBef>
                        <a:spcAft>
                          <a:spcPts val="20"/>
                        </a:spcAft>
                        <a:buClrTx/>
                        <a:buSzTx/>
                        <a:buFontTx/>
                        <a:buNone/>
                        <a:defRPr/>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Solution</a:t>
                      </a:r>
                    </a:p>
                  </a:txBody>
                  <a:tcPr marL="73025" marR="38100" marT="7620" marB="0"/>
                </a:tc>
                <a:tc>
                  <a:txBody>
                    <a:bodyPr/>
                    <a:lstStyle/>
                    <a:p>
                      <a:pPr marL="70485" marR="19685" indent="-6350" algn="ctr">
                        <a:lnSpc>
                          <a:spcPct val="107000"/>
                        </a:lnSpc>
                        <a:spcAft>
                          <a:spcPts val="20"/>
                        </a:spcAft>
                        <a:buNone/>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73025" marR="38100" marT="7620" marB="0"/>
                </a:tc>
                <a:extLst>
                  <a:ext uri="{0D108BD9-81ED-4DB2-BD59-A6C34878D82A}">
                    <a16:rowId xmlns:a16="http://schemas.microsoft.com/office/drawing/2014/main" val="10003"/>
                  </a:ext>
                </a:extLst>
              </a:tr>
              <a:tr h="337711">
                <a:tc>
                  <a:txBody>
                    <a:bodyPr/>
                    <a:lstStyle/>
                    <a:p>
                      <a:pPr marL="70485" marR="16510" indent="-6350" algn="ctr">
                        <a:lnSpc>
                          <a:spcPct val="107000"/>
                        </a:lnSpc>
                        <a:spcAft>
                          <a:spcPts val="20"/>
                        </a:spcAft>
                        <a:buNone/>
                      </a:pPr>
                      <a:r>
                        <a:rPr lang="en-IN" sz="16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73025" marR="38100" marT="7620" marB="0"/>
                </a:tc>
                <a:tc>
                  <a:txBody>
                    <a:bodyPr/>
                    <a:lstStyle/>
                    <a:p>
                      <a:pPr marL="70485" marR="55245" lvl="0" indent="-6350" algn="l" defTabSz="914400" rtl="0" eaLnBrk="1" fontAlgn="auto" latinLnBrk="0" hangingPunct="1">
                        <a:lnSpc>
                          <a:spcPct val="107000"/>
                        </a:lnSpc>
                        <a:spcBef>
                          <a:spcPts val="0"/>
                        </a:spcBef>
                        <a:spcAft>
                          <a:spcPts val="20"/>
                        </a:spcAft>
                        <a:buClrTx/>
                        <a:buSzTx/>
                        <a:buFontTx/>
                        <a:buNone/>
                        <a:defRPr/>
                      </a:pPr>
                      <a:r>
                        <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Features</a:t>
                      </a:r>
                    </a:p>
                  </a:txBody>
                  <a:tcPr marL="73025" marR="38100" marT="7620" marB="0"/>
                </a:tc>
                <a:tc>
                  <a:txBody>
                    <a:bodyPr/>
                    <a:lstStyle/>
                    <a:p>
                      <a:pPr marL="70485" marR="19685" indent="-6350" algn="ctr">
                        <a:lnSpc>
                          <a:spcPct val="107000"/>
                        </a:lnSpc>
                        <a:spcAft>
                          <a:spcPts val="20"/>
                        </a:spcAft>
                        <a:buNone/>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a:t>
                      </a:r>
                    </a:p>
                  </a:txBody>
                  <a:tcPr marL="73025" marR="38100" marT="7620" marB="0"/>
                </a:tc>
                <a:extLst>
                  <a:ext uri="{0D108BD9-81ED-4DB2-BD59-A6C34878D82A}">
                    <a16:rowId xmlns:a16="http://schemas.microsoft.com/office/drawing/2014/main" val="10004"/>
                  </a:ext>
                </a:extLst>
              </a:tr>
              <a:tr h="629005">
                <a:tc>
                  <a:txBody>
                    <a:bodyPr/>
                    <a:lstStyle/>
                    <a:p>
                      <a:pPr marL="70485" marR="16510" indent="-6350" algn="ctr">
                        <a:lnSpc>
                          <a:spcPct val="107000"/>
                        </a:lnSpc>
                        <a:spcAft>
                          <a:spcPts val="20"/>
                        </a:spcAft>
                      </a:pPr>
                      <a:r>
                        <a:rPr lang="en-IN" sz="1600" kern="100">
                          <a:effectLst/>
                          <a:latin typeface="Times New Roman" panose="02020603050405020304" pitchFamily="18" charset="0"/>
                          <a:cs typeface="Times New Roman" panose="02020603050405020304" pitchFamily="18" charset="0"/>
                        </a:rPr>
                        <a:t>5 </a:t>
                      </a:r>
                      <a:endParaRPr lang="en-IN" sz="16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tc>
                  <a:txBody>
                    <a:bodyPr/>
                    <a:lstStyle/>
                    <a:p>
                      <a:r>
                        <a:rPr lang="en-IN" sz="1800" b="0" i="0" u="none" strike="noStrike" kern="1200" baseline="0" dirty="0">
                          <a:solidFill>
                            <a:schemeClr val="dk1"/>
                          </a:solidFill>
                          <a:effectLst/>
                          <a:latin typeface="Times New Roman" panose="02020603050405020304" pitchFamily="18" charset="0"/>
                          <a:ea typeface="+mn-ea"/>
                          <a:cs typeface="Times New Roman" panose="02020603050405020304" pitchFamily="18" charset="0"/>
                        </a:rPr>
                        <a:t>Software and Hardware Requirement </a:t>
                      </a:r>
                    </a:p>
                    <a:p>
                      <a:r>
                        <a:rPr lang="en-IN" sz="1800" b="0" i="0" u="none" strike="noStrike" kern="1200" baseline="0" dirty="0">
                          <a:solidFill>
                            <a:schemeClr val="dk1"/>
                          </a:solidFill>
                          <a:effectLst/>
                          <a:latin typeface="Times New Roman" panose="02020603050405020304" pitchFamily="18" charset="0"/>
                          <a:ea typeface="+mn-ea"/>
                          <a:cs typeface="Times New Roman" panose="02020603050405020304" pitchFamily="18" charset="0"/>
                        </a:rPr>
                        <a:t>Specification </a:t>
                      </a:r>
                      <a:r>
                        <a:rPr lang="en-I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a:t>
                      </a:r>
                    </a:p>
                  </a:txBody>
                  <a:tcPr marL="73025" marR="38100" marT="7620" marB="0"/>
                </a:tc>
                <a:tc>
                  <a:txBody>
                    <a:bodyPr/>
                    <a:lstStyle/>
                    <a:p>
                      <a:pPr marL="70485" marR="19685" indent="-6350" algn="ctr">
                        <a:lnSpc>
                          <a:spcPct val="107000"/>
                        </a:lnSpc>
                        <a:spcAft>
                          <a:spcPts val="20"/>
                        </a:spcAft>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7</a:t>
                      </a:r>
                    </a:p>
                  </a:txBody>
                  <a:tcPr marL="73025" marR="38100" marT="7620" marB="0"/>
                </a:tc>
                <a:extLst>
                  <a:ext uri="{0D108BD9-81ED-4DB2-BD59-A6C34878D82A}">
                    <a16:rowId xmlns:a16="http://schemas.microsoft.com/office/drawing/2014/main" val="10005"/>
                  </a:ext>
                </a:extLst>
              </a:tr>
              <a:tr h="669019">
                <a:tc>
                  <a:txBody>
                    <a:bodyPr/>
                    <a:lstStyle/>
                    <a:p>
                      <a:pPr marL="70485" marR="16510" indent="-6350" algn="ctr">
                        <a:lnSpc>
                          <a:spcPct val="107000"/>
                        </a:lnSpc>
                        <a:spcAft>
                          <a:spcPts val="20"/>
                        </a:spcAft>
                      </a:pPr>
                      <a:r>
                        <a:rPr lang="en-IN" sz="1600" b="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6</a:t>
                      </a:r>
                    </a:p>
                  </a:txBody>
                  <a:tcPr marL="73025" marR="38100" marT="7620" marB="0"/>
                </a:tc>
                <a:tc>
                  <a:txBody>
                    <a:bodyPr/>
                    <a:lstStyle/>
                    <a:p>
                      <a:r>
                        <a:rPr lang="en-US" sz="18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Program’s Structure Analyzing and GUI Constructing </a:t>
                      </a:r>
                    </a:p>
                  </a:txBody>
                  <a:tcPr marL="73025" marR="38100" marT="7620" marB="0"/>
                </a:tc>
                <a:tc>
                  <a:txBody>
                    <a:bodyPr/>
                    <a:lstStyle/>
                    <a:p>
                      <a:pPr marL="70485" marR="13335" indent="-6350" algn="ctr">
                        <a:lnSpc>
                          <a:spcPct val="107000"/>
                        </a:lnSpc>
                        <a:spcAft>
                          <a:spcPts val="20"/>
                        </a:spcAft>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9</a:t>
                      </a:r>
                    </a:p>
                  </a:txBody>
                  <a:tcPr marL="73025" marR="38100" marT="7620" marB="0"/>
                </a:tc>
                <a:extLst>
                  <a:ext uri="{0D108BD9-81ED-4DB2-BD59-A6C34878D82A}">
                    <a16:rowId xmlns:a16="http://schemas.microsoft.com/office/drawing/2014/main" val="10006"/>
                  </a:ext>
                </a:extLst>
              </a:tr>
              <a:tr h="485998">
                <a:tc>
                  <a:txBody>
                    <a:bodyPr/>
                    <a:lstStyle/>
                    <a:p>
                      <a:pPr marL="70485" marR="16510" indent="-6350" algn="ctr">
                        <a:lnSpc>
                          <a:spcPct val="107000"/>
                        </a:lnSpc>
                        <a:spcAft>
                          <a:spcPts val="20"/>
                        </a:spcAft>
                      </a:pPr>
                      <a:r>
                        <a:rPr lang="en-IN" sz="1600" kern="100" dirty="0">
                          <a:effectLst/>
                          <a:latin typeface="Times New Roman" panose="02020603050405020304" pitchFamily="18" charset="0"/>
                          <a:cs typeface="Times New Roman" panose="02020603050405020304" pitchFamily="18" charset="0"/>
                        </a:rPr>
                        <a:t> 7</a:t>
                      </a:r>
                      <a:endPar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tc>
                  <a:txBody>
                    <a:bodyPr/>
                    <a:lstStyle/>
                    <a:p>
                      <a:pPr marL="70485" marR="55245" indent="-6350" algn="l">
                        <a:lnSpc>
                          <a:spcPct val="107000"/>
                        </a:lnSpc>
                        <a:spcAft>
                          <a:spcPts val="590"/>
                        </a:spcAft>
                      </a:pPr>
                      <a:r>
                        <a:rPr lang="en-IN" dirty="0"/>
                        <a:t>References</a:t>
                      </a:r>
                    </a:p>
                  </a:txBody>
                  <a:tcPr marL="73025" marR="38100" marT="7620" marB="0"/>
                </a:tc>
                <a:tc>
                  <a:txBody>
                    <a:bodyPr/>
                    <a:lstStyle/>
                    <a:p>
                      <a:pPr marL="70485" marR="19685" indent="-6350" algn="ctr">
                        <a:lnSpc>
                          <a:spcPct val="107000"/>
                        </a:lnSpc>
                        <a:spcAft>
                          <a:spcPts val="20"/>
                        </a:spcAft>
                      </a:pPr>
                      <a:r>
                        <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13</a:t>
                      </a:r>
                    </a:p>
                  </a:txBody>
                  <a:tcPr marL="73025" marR="38100" marT="7620" marB="0"/>
                </a:tc>
                <a:extLst>
                  <a:ext uri="{0D108BD9-81ED-4DB2-BD59-A6C34878D82A}">
                    <a16:rowId xmlns:a16="http://schemas.microsoft.com/office/drawing/2014/main" val="10007"/>
                  </a:ext>
                </a:extLst>
              </a:tr>
              <a:tr h="427524">
                <a:tc>
                  <a:txBody>
                    <a:bodyPr/>
                    <a:lstStyle/>
                    <a:p>
                      <a:pPr marL="70485" marR="16510" indent="-6350" algn="ctr">
                        <a:lnSpc>
                          <a:spcPct val="107000"/>
                        </a:lnSpc>
                        <a:spcAft>
                          <a:spcPts val="20"/>
                        </a:spcAft>
                      </a:pPr>
                      <a:endParaRPr lang="en-IN" sz="1600" b="0"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tc>
                  <a:txBody>
                    <a:bodyPr/>
                    <a:lstStyle/>
                    <a:p>
                      <a:pPr marL="70485" marR="55245" indent="-6350" algn="l">
                        <a:lnSpc>
                          <a:spcPct val="107000"/>
                        </a:lnSpc>
                        <a:spcAft>
                          <a:spcPts val="590"/>
                        </a:spcAft>
                      </a:pPr>
                      <a:endParaRPr lang="en-I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tc>
                  <a:txBody>
                    <a:bodyPr/>
                    <a:lstStyle/>
                    <a:p>
                      <a:pPr marL="70485" marR="13335" indent="-6350" algn="ctr">
                        <a:lnSpc>
                          <a:spcPct val="107000"/>
                        </a:lnSpc>
                        <a:spcAft>
                          <a:spcPts val="20"/>
                        </a:spcAft>
                      </a:pPr>
                      <a:endParaRPr lang="en-IN" sz="16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3025" marR="38100" marT="7620" marB="0"/>
                </a:tc>
                <a:extLst>
                  <a:ext uri="{0D108BD9-81ED-4DB2-BD59-A6C34878D82A}">
                    <a16:rowId xmlns:a16="http://schemas.microsoft.com/office/drawing/2014/main" val="10008"/>
                  </a:ext>
                </a:extLst>
              </a:tr>
            </a:tbl>
          </a:graphicData>
        </a:graphic>
      </p:graphicFrame>
      <p:sp>
        <p:nvSpPr>
          <p:cNvPr id="6" name="Rectangle 2"/>
          <p:cNvSpPr>
            <a:spLocks noChangeArrowheads="1"/>
          </p:cNvSpPr>
          <p:nvPr/>
        </p:nvSpPr>
        <p:spPr bwMode="auto">
          <a:xfrm>
            <a:off x="1625600" y="15636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056" tIns="1187076" rIns="401511" bIns="1090269"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200" b="0" i="0" u="none" strike="noStrike" cap="none" normalizeH="0" baseline="0">
                <a:ln>
                  <a:noFill/>
                </a:ln>
                <a:solidFill>
                  <a:srgbClr val="000000"/>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panose="020F0502020204030204"/>
                <a:ea typeface="MS PGothic" panose="020B0600070205080204" charset="-128"/>
              </a:rPr>
              <a:t>3</a:t>
            </a:fld>
            <a:endParaRPr lang="en-GB" sz="1200" b="0" strike="noStrike" spc="-1">
              <a:latin typeface="Times New Roman" panose="02020603050405020304"/>
            </a:endParaRPr>
          </a:p>
        </p:txBody>
      </p:sp>
      <p:sp>
        <p:nvSpPr>
          <p:cNvPr id="6" name="TextBox 5"/>
          <p:cNvSpPr txBox="1"/>
          <p:nvPr/>
        </p:nvSpPr>
        <p:spPr>
          <a:xfrm>
            <a:off x="110836" y="988291"/>
            <a:ext cx="8857673" cy="3677930"/>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1 </a:t>
            </a:r>
            <a:r>
              <a:rPr lang="en-IN" sz="2000" b="1" dirty="0">
                <a:latin typeface="Times New Roman" panose="02020603050405020304" pitchFamily="18" charset="0"/>
                <a:cs typeface="Times New Roman" panose="02020603050405020304" pitchFamily="18" charset="0"/>
              </a:rPr>
              <a:t>Introduction </a:t>
            </a:r>
          </a:p>
          <a:p>
            <a:r>
              <a:rPr lang="en-IN" sz="1700" dirty="0">
                <a:latin typeface="Times New Roman" panose="02020603050405020304" pitchFamily="18" charset="0"/>
                <a:cs typeface="Times New Roman" panose="02020603050405020304" pitchFamily="18" charset="0"/>
              </a:rPr>
              <a:t>The rapid evolution of digital education has significantly increased the demand for reliable and secure online examination systems. However, conventional online assessment platforms lack robust mechanisms to prevent cheating and ensure academic integrity. This project proposes a Secure Online Examination System integrated with AI-based proctoring that leverages advanced technologies such as computer vision, machine learning, and real-time monitoring to detect and prevent malpractice.</a:t>
            </a:r>
          </a:p>
          <a:p>
            <a:r>
              <a:rPr lang="en-IN" sz="1700" dirty="0">
                <a:latin typeface="Times New Roman" panose="02020603050405020304" pitchFamily="18" charset="0"/>
                <a:cs typeface="Times New Roman" panose="02020603050405020304" pitchFamily="18" charset="0"/>
              </a:rPr>
              <a:t>The system continuously </a:t>
            </a:r>
            <a:r>
              <a:rPr lang="en-IN" sz="1700" dirty="0" err="1">
                <a:latin typeface="Times New Roman" panose="02020603050405020304" pitchFamily="18" charset="0"/>
                <a:cs typeface="Times New Roman" panose="02020603050405020304" pitchFamily="18" charset="0"/>
              </a:rPr>
              <a:t>analyzes</a:t>
            </a:r>
            <a:r>
              <a:rPr lang="en-IN" sz="1700" dirty="0">
                <a:latin typeface="Times New Roman" panose="02020603050405020304" pitchFamily="18" charset="0"/>
                <a:cs typeface="Times New Roman" panose="02020603050405020304" pitchFamily="18" charset="0"/>
              </a:rPr>
              <a:t> candidate </a:t>
            </a:r>
            <a:r>
              <a:rPr lang="en-IN" sz="1700" dirty="0" err="1">
                <a:latin typeface="Times New Roman" panose="02020603050405020304" pitchFamily="18" charset="0"/>
                <a:cs typeface="Times New Roman" panose="02020603050405020304" pitchFamily="18" charset="0"/>
              </a:rPr>
              <a:t>behavior</a:t>
            </a:r>
            <a:r>
              <a:rPr lang="en-IN" sz="1700" dirty="0">
                <a:latin typeface="Times New Roman" panose="02020603050405020304" pitchFamily="18" charset="0"/>
                <a:cs typeface="Times New Roman" panose="02020603050405020304" pitchFamily="18" charset="0"/>
              </a:rPr>
              <a:t> through webcam and microphone inputs to identify anomalies such as multiple face detection, absence from screen, unusual head or eye movements, and background disturbances. It generates real-time alerts and records evidence for post-exam review. The proposed system ensures a fair, transparent, scalable, and cost-effective solution suitable for modern educational institutions and remote learning environments</a:t>
            </a:r>
            <a:r>
              <a:rPr lang="en-IN" sz="1600" dirty="0"/>
              <a:t>.</a:t>
            </a:r>
          </a:p>
          <a:p>
            <a:r>
              <a:rPr lang="en-IN" sz="1600" i="1" dirty="0"/>
              <a:t> </a:t>
            </a:r>
            <a:endParaRPr lang="en-IN" sz="1600" dirty="0"/>
          </a:p>
        </p:txBody>
      </p:sp>
      <p:sp>
        <p:nvSpPr>
          <p:cNvPr id="2" name="TextBox 1"/>
          <p:cNvSpPr txBox="1"/>
          <p:nvPr/>
        </p:nvSpPr>
        <p:spPr>
          <a:xfrm>
            <a:off x="193965" y="184728"/>
            <a:ext cx="5560290" cy="492443"/>
          </a:xfrm>
          <a:prstGeom prst="rect">
            <a:avLst/>
          </a:prstGeom>
          <a:noFill/>
        </p:spPr>
        <p:txBody>
          <a:bodyPr wrap="square" rtlCol="0">
            <a:spAutoFit/>
          </a:bodyPr>
          <a:lstStyle/>
          <a:p>
            <a:r>
              <a:rPr lang="en-IN" sz="2600" dirty="0"/>
              <a:t>Introduction to 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805" y="0"/>
            <a:ext cx="4822190" cy="913765"/>
          </a:xfrm>
        </p:spPr>
        <p:txBody>
          <a:bodyPr/>
          <a:lstStyle/>
          <a:p>
            <a:r>
              <a:rPr lang="en-IN" altLang="en-US" sz="3000">
                <a:latin typeface="Times New Roman" panose="02020603050405020304" pitchFamily="18" charset="0"/>
                <a:cs typeface="Times New Roman" panose="02020603050405020304" pitchFamily="18" charset="0"/>
              </a:rPr>
              <a:t>Problem statement</a:t>
            </a:r>
          </a:p>
        </p:txBody>
      </p:sp>
      <p:sp>
        <p:nvSpPr>
          <p:cNvPr id="3" name="Subtitle 2"/>
          <p:cNvSpPr>
            <a:spLocks noGrp="1"/>
          </p:cNvSpPr>
          <p:nvPr>
            <p:ph type="subTitle"/>
          </p:nvPr>
        </p:nvSpPr>
        <p:spPr>
          <a:xfrm>
            <a:off x="344805" y="92089"/>
            <a:ext cx="5486040" cy="914040"/>
          </a:xfrm>
        </p:spPr>
        <p:txBody>
          <a:bodyPr/>
          <a:lstStyle/>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a:p>
            <a:endParaRPr lang="en-US" altLang="en-US" sz="1800" dirty="0"/>
          </a:p>
        </p:txBody>
      </p:sp>
      <p:sp>
        <p:nvSpPr>
          <p:cNvPr id="5" name="Rectangle 4"/>
          <p:cNvSpPr/>
          <p:nvPr/>
        </p:nvSpPr>
        <p:spPr>
          <a:xfrm>
            <a:off x="344805" y="1106819"/>
            <a:ext cx="7958686" cy="3693319"/>
          </a:xfrm>
          <a:prstGeom prst="rect">
            <a:avLst/>
          </a:prstGeom>
        </p:spPr>
        <p:txBody>
          <a:bodyPr wrap="square">
            <a:spAutoFit/>
          </a:bodyPr>
          <a:lstStyle/>
          <a:p>
            <a:r>
              <a:rPr lang="en-IN" dirty="0">
                <a:latin typeface="Times New Roman" panose="02020603050405020304" pitchFamily="18" charset="0"/>
                <a:cs typeface="Times New Roman" panose="02020603050405020304" pitchFamily="18" charset="0"/>
              </a:rPr>
              <a:t>With the global shift toward online learning, especially accelerated by events like the COVID-19 pandemic, educational institutions face significant challenges in conducting secure and credible examinations remotely. Traditional methods of invigilation are either resource-intensive or ineffective in a virtual environment.</a:t>
            </a:r>
          </a:p>
          <a:p>
            <a:r>
              <a:rPr lang="en-IN" dirty="0">
                <a:latin typeface="Times New Roman" panose="02020603050405020304" pitchFamily="18" charset="0"/>
                <a:cs typeface="Times New Roman" panose="02020603050405020304" pitchFamily="18" charset="0"/>
              </a:rPr>
              <a:t>Existing online exam systems primarily depend on trust or limited monitoring, making them vulnerable to cheating practices such as impersonation, use of unauthorized materials, and collaboration with others. Artificial Intelligence, particularly in the domains of computer vision and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analytics, provides a powerful solution to automate proctoring tasks.</a:t>
            </a:r>
          </a:p>
          <a:p>
            <a:r>
              <a:rPr lang="en-IN" dirty="0">
                <a:latin typeface="Times New Roman" panose="02020603050405020304" pitchFamily="18" charset="0"/>
                <a:cs typeface="Times New Roman" panose="02020603050405020304" pitchFamily="18" charset="0"/>
              </a:rPr>
              <a:t>By integrating AI into online examinations, institutions can achieve real-time monitoring, automated anomaly detection, identity verification, and evidence-based evaluation. This project aims to bridge the gap between accessibility and security in digital assessments.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p:nvPr>
        </p:nvSpPr>
        <p:spPr>
          <a:xfrm>
            <a:off x="250305" y="18113"/>
            <a:ext cx="5486040" cy="914040"/>
          </a:xfrm>
        </p:spPr>
        <p:txBody>
          <a:bodyPr/>
          <a:lstStyle/>
          <a:p>
            <a:r>
              <a:rPr lang="en-US" altLang="en-US" sz="3000" dirty="0">
                <a:latin typeface="Times New Roman" panose="02020603050405020304" pitchFamily="18" charset="0"/>
                <a:cs typeface="Times New Roman" panose="02020603050405020304" pitchFamily="18" charset="0"/>
              </a:rPr>
              <a:t>Solution / Proposed System</a:t>
            </a:r>
          </a:p>
        </p:txBody>
      </p:sp>
      <p:sp>
        <p:nvSpPr>
          <p:cNvPr id="5" name="TextBox 4"/>
          <p:cNvSpPr txBox="1"/>
          <p:nvPr/>
        </p:nvSpPr>
        <p:spPr>
          <a:xfrm>
            <a:off x="250305" y="997527"/>
            <a:ext cx="7997768" cy="4524315"/>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The proposed system is a web-based platform that combines an online examination interface with an AI-powered proctoring engine to provide a comprehensive solution for secure assessments. Users begin by registering and logging into the system through a secure authentication process, followed by identity verification using facial recognition technology. Once the examination starts, the system continuously captures and processes video and audio streams from the candidate’s device. Advanced AI algorithms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these inputs in real time to detect patterns such as eye gaze direction, head movement, and background noise, which may indicate potential cheating attempts. The system also monitors browser activity to identify actions like tab switching or accessing unauthorized resources. Any suspicious activity triggers immediate alerts and is logged with timestamps, while the entire session is recorded and securely stored for post-examination analysis. An administrative dashboard enables instructors to monitor live sessions, review flagged events, and generate detailed reports, ensuring a transparent and efficient examination process.</a:t>
            </a:r>
            <a:endParaRPr lang="en-US" alt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045" y="0"/>
            <a:ext cx="4996815" cy="913765"/>
          </a:xfrm>
        </p:spPr>
        <p:txBody>
          <a:bodyPr/>
          <a:lstStyle/>
          <a:p>
            <a:r>
              <a:rPr lang="en-IN" altLang="en-US" sz="3200">
                <a:latin typeface="Times New Roman" panose="02020603050405020304" pitchFamily="18" charset="0"/>
                <a:cs typeface="Times New Roman" panose="02020603050405020304" pitchFamily="18" charset="0"/>
              </a:rPr>
              <a:t>Features</a:t>
            </a:r>
          </a:p>
        </p:txBody>
      </p:sp>
      <p:sp>
        <p:nvSpPr>
          <p:cNvPr id="3" name="Subtitle 2"/>
          <p:cNvSpPr>
            <a:spLocks noGrp="1"/>
          </p:cNvSpPr>
          <p:nvPr>
            <p:ph type="subTitle"/>
          </p:nvPr>
        </p:nvSpPr>
        <p:spPr>
          <a:xfrm>
            <a:off x="457200" y="1166495"/>
            <a:ext cx="8229240" cy="4525560"/>
          </a:xfrm>
        </p:spPr>
        <p:txBody>
          <a:bodyPr/>
          <a:lstStyle/>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Secure user authentication and </a:t>
            </a:r>
            <a:r>
              <a:rPr lang="en-IN" sz="1800" b="1" dirty="0">
                <a:latin typeface="Times New Roman" panose="02020603050405020304" pitchFamily="18" charset="0"/>
                <a:cs typeface="Times New Roman" panose="02020603050405020304" pitchFamily="18" charset="0"/>
              </a:rPr>
              <a:t>role-based access control</a:t>
            </a:r>
            <a:r>
              <a:rPr lang="en-IN" sz="18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Facial recognition for </a:t>
            </a:r>
            <a:r>
              <a:rPr lang="en-IN" sz="1800" b="1" dirty="0">
                <a:latin typeface="Times New Roman" panose="02020603050405020304" pitchFamily="18" charset="0"/>
                <a:cs typeface="Times New Roman" panose="02020603050405020304" pitchFamily="18" charset="0"/>
              </a:rPr>
              <a:t>identity verification</a:t>
            </a:r>
            <a:r>
              <a:rPr lang="en-IN" sz="18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Continuous </a:t>
            </a:r>
            <a:r>
              <a:rPr lang="en-IN" sz="1800" b="1" dirty="0">
                <a:latin typeface="Times New Roman" panose="02020603050405020304" pitchFamily="18" charset="0"/>
                <a:cs typeface="Times New Roman" panose="02020603050405020304" pitchFamily="18" charset="0"/>
              </a:rPr>
              <a:t>live video and audio monitoring</a:t>
            </a:r>
            <a:r>
              <a:rPr lang="en-IN" sz="18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Detection of </a:t>
            </a:r>
            <a:r>
              <a:rPr lang="en-IN" sz="1800" b="1" dirty="0">
                <a:latin typeface="Times New Roman" panose="02020603050405020304" pitchFamily="18" charset="0"/>
                <a:cs typeface="Times New Roman" panose="02020603050405020304" pitchFamily="18" charset="0"/>
              </a:rPr>
              <a:t>eye and head movements</a:t>
            </a:r>
            <a:r>
              <a:rPr lang="en-IN" sz="18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Identification of </a:t>
            </a:r>
            <a:r>
              <a:rPr lang="en-IN" sz="1800" b="1" dirty="0">
                <a:latin typeface="Times New Roman" panose="02020603050405020304" pitchFamily="18" charset="0"/>
                <a:cs typeface="Times New Roman" panose="02020603050405020304" pitchFamily="18" charset="0"/>
              </a:rPr>
              <a:t>multiple faces in the frame</a:t>
            </a:r>
            <a:r>
              <a:rPr lang="en-IN" sz="18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Tracking of </a:t>
            </a:r>
            <a:r>
              <a:rPr lang="en-IN" sz="1800" b="1" dirty="0">
                <a:latin typeface="Times New Roman" panose="02020603050405020304" pitchFamily="18" charset="0"/>
                <a:cs typeface="Times New Roman" panose="02020603050405020304" pitchFamily="18" charset="0"/>
              </a:rPr>
              <a:t>browser activity</a:t>
            </a:r>
            <a:r>
              <a:rPr lang="en-IN" sz="1800" dirty="0">
                <a:latin typeface="Times New Roman" panose="02020603050405020304" pitchFamily="18" charset="0"/>
                <a:cs typeface="Times New Roman" panose="02020603050405020304" pitchFamily="18" charset="0"/>
              </a:rPr>
              <a:t> to prevent tab switching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Automated </a:t>
            </a:r>
            <a:r>
              <a:rPr lang="en-IN" sz="1800" b="1" dirty="0">
                <a:latin typeface="Times New Roman" panose="02020603050405020304" pitchFamily="18" charset="0"/>
                <a:cs typeface="Times New Roman" panose="02020603050405020304" pitchFamily="18" charset="0"/>
              </a:rPr>
              <a:t>alert generation and logging</a:t>
            </a:r>
            <a:r>
              <a:rPr lang="en-IN" sz="1800" dirty="0">
                <a:latin typeface="Times New Roman" panose="02020603050405020304" pitchFamily="18" charset="0"/>
                <a:cs typeface="Times New Roman" panose="02020603050405020304" pitchFamily="18" charset="0"/>
              </a:rPr>
              <a:t> for suspicious activities </a:t>
            </a:r>
          </a:p>
          <a:p>
            <a:pPr marL="285750" lvl="0" indent="-285750">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Session recording</a:t>
            </a:r>
            <a:r>
              <a:rPr lang="en-IN" sz="1800" dirty="0">
                <a:latin typeface="Times New Roman" panose="02020603050405020304" pitchFamily="18" charset="0"/>
                <a:cs typeface="Times New Roman" panose="02020603050405020304" pitchFamily="18" charset="0"/>
              </a:rPr>
              <a:t> for evidence collection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Centralized </a:t>
            </a:r>
            <a:r>
              <a:rPr lang="en-IN" sz="1800" b="1" dirty="0">
                <a:latin typeface="Times New Roman" panose="02020603050405020304" pitchFamily="18" charset="0"/>
                <a:cs typeface="Times New Roman" panose="02020603050405020304" pitchFamily="18" charset="0"/>
              </a:rPr>
              <a:t>administrative dashboard</a:t>
            </a:r>
            <a:r>
              <a:rPr lang="en-IN" sz="1800" dirty="0">
                <a:latin typeface="Times New Roman" panose="02020603050405020304" pitchFamily="18" charset="0"/>
                <a:cs typeface="Times New Roman" panose="02020603050405020304" pitchFamily="18" charset="0"/>
              </a:rPr>
              <a:t> for monitoring and reporting </a:t>
            </a:r>
          </a:p>
          <a:p>
            <a:pPr marL="285750" lvl="0" indent="-285750">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Secure examination interface with restrictions on: </a:t>
            </a:r>
          </a:p>
          <a:p>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5491" y="1080655"/>
            <a:ext cx="8765309" cy="4532010"/>
          </a:xfrm>
          <a:prstGeom prst="rect">
            <a:avLst/>
          </a:prstGeom>
          <a:noFill/>
        </p:spPr>
        <p:txBody>
          <a:bodyPr wrap="squar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2 </a:t>
            </a:r>
            <a:r>
              <a:rPr lang="en-IN" sz="2000" b="1" dirty="0">
                <a:latin typeface="Times New Roman" panose="02020603050405020304" pitchFamily="18" charset="0"/>
                <a:cs typeface="Times New Roman" panose="02020603050405020304" pitchFamily="18" charset="0"/>
              </a:rPr>
              <a:t>Software and Hardware Requirement Specification </a:t>
            </a:r>
            <a:endParaRPr lang="en-IN" dirty="0"/>
          </a:p>
          <a:p>
            <a:pPr>
              <a:lnSpc>
                <a:spcPct val="150000"/>
              </a:lnSpc>
            </a:pPr>
            <a:r>
              <a:rPr lang="en-IN" b="1" dirty="0">
                <a:latin typeface="Times New Roman" panose="02020603050405020304" pitchFamily="18" charset="0"/>
                <a:cs typeface="Times New Roman" panose="02020603050405020304" pitchFamily="18" charset="0"/>
              </a:rPr>
              <a:t>2.1 Methods </a:t>
            </a:r>
            <a:endParaRPr lang="en-IN" dirty="0">
              <a:latin typeface="Times New Roman" panose="02020603050405020304" pitchFamily="18" charset="0"/>
              <a:cs typeface="Times New Roman" panose="02020603050405020304" pitchFamily="18" charset="0"/>
            </a:endParaRPr>
          </a:p>
          <a:p>
            <a:pPr>
              <a:lnSpc>
                <a:spcPct val="150000"/>
              </a:lnSpc>
            </a:pPr>
            <a:r>
              <a:rPr lang="en-US" sz="1700" dirty="0">
                <a:latin typeface="Times New Roman" panose="02020603050405020304" pitchFamily="18" charset="0"/>
                <a:cs typeface="Times New Roman" panose="02020603050405020304" pitchFamily="18" charset="0"/>
              </a:rPr>
              <a:t>Agile development methodology was used. Weekly sprints ensured iterative development, testing, and feedback incorporation. </a:t>
            </a:r>
          </a:p>
          <a:p>
            <a:pPr>
              <a:lnSpc>
                <a:spcPct val="150000"/>
              </a:lnSpc>
            </a:pPr>
            <a:r>
              <a:rPr lang="en-IN" sz="1700" b="1" dirty="0">
                <a:latin typeface="Times New Roman" panose="02020603050405020304" pitchFamily="18" charset="0"/>
                <a:cs typeface="Times New Roman" panose="02020603050405020304" pitchFamily="18" charset="0"/>
              </a:rPr>
              <a:t>2.2 </a:t>
            </a:r>
            <a:r>
              <a:rPr lang="en-IN" b="1" dirty="0">
                <a:latin typeface="Times New Roman" panose="02020603050405020304" pitchFamily="18" charset="0"/>
                <a:cs typeface="Times New Roman" panose="02020603050405020304" pitchFamily="18" charset="0"/>
              </a:rPr>
              <a:t>Programming / Working Environment </a:t>
            </a: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Frontend Development</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Built using </a:t>
            </a:r>
            <a:r>
              <a:rPr lang="en-IN" sz="1600" b="1" dirty="0">
                <a:latin typeface="Times New Roman" panose="02020603050405020304" pitchFamily="18" charset="0"/>
                <a:cs typeface="Times New Roman" panose="02020603050405020304" pitchFamily="18" charset="0"/>
              </a:rPr>
              <a:t>React.js</a:t>
            </a:r>
            <a:r>
              <a:rPr lang="en-IN" sz="1600" dirty="0">
                <a:latin typeface="Times New Roman" panose="02020603050405020304" pitchFamily="18" charset="0"/>
                <a:cs typeface="Times New Roman" panose="02020603050405020304" pitchFamily="18" charset="0"/>
              </a:rPr>
              <a:t> for dynamic UI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Styled with </a:t>
            </a:r>
            <a:r>
              <a:rPr lang="en-IN" sz="1600" b="1" dirty="0">
                <a:latin typeface="Times New Roman" panose="02020603050405020304" pitchFamily="18" charset="0"/>
                <a:cs typeface="Times New Roman" panose="02020603050405020304" pitchFamily="18" charset="0"/>
              </a:rPr>
              <a:t>Tailwind CSS</a:t>
            </a:r>
            <a:r>
              <a:rPr lang="en-IN" sz="1600" dirty="0">
                <a:latin typeface="Times New Roman" panose="02020603050405020304" pitchFamily="18" charset="0"/>
                <a:cs typeface="Times New Roman" panose="02020603050405020304" pitchFamily="18" charset="0"/>
              </a:rPr>
              <a:t> for responsive design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Backend Development</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Implemented using </a:t>
            </a:r>
            <a:r>
              <a:rPr lang="en-IN" sz="1600" b="1" dirty="0">
                <a:latin typeface="Times New Roman" panose="02020603050405020304" pitchFamily="18" charset="0"/>
                <a:cs typeface="Times New Roman" panose="02020603050405020304" pitchFamily="18" charset="0"/>
              </a:rPr>
              <a:t>Node.js</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a:t>
            </a:r>
            <a:r>
              <a:rPr lang="en-IN" sz="1600" b="1" dirty="0">
                <a:latin typeface="Times New Roman" panose="02020603050405020304" pitchFamily="18" charset="0"/>
                <a:cs typeface="Times New Roman" panose="02020603050405020304" pitchFamily="18" charset="0"/>
              </a:rPr>
              <a:t>Express.js</a:t>
            </a:r>
            <a:r>
              <a:rPr lang="en-IN" sz="1600" dirty="0">
                <a:latin typeface="Times New Roman" panose="02020603050405020304" pitchFamily="18" charset="0"/>
                <a:cs typeface="Times New Roman" panose="02020603050405020304" pitchFamily="18" charset="0"/>
              </a:rPr>
              <a:t> for server-side logic and API handling </a:t>
            </a:r>
          </a:p>
          <a:p>
            <a:pPr marL="285750" lvl="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Database</a:t>
            </a:r>
            <a:r>
              <a:rPr lang="en-IN"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MongoDB</a:t>
            </a:r>
            <a:r>
              <a:rPr lang="en-IN" sz="1600" dirty="0">
                <a:latin typeface="Times New Roman" panose="02020603050405020304" pitchFamily="18" charset="0"/>
                <a:cs typeface="Times New Roman" panose="02020603050405020304" pitchFamily="18" charset="0"/>
              </a:rPr>
              <a:t> used for storing user data, Examination records, activity logs</a:t>
            </a:r>
          </a:p>
          <a:p>
            <a:pPr>
              <a:lnSpc>
                <a:spcPct val="150000"/>
              </a:lnSpc>
            </a:pPr>
            <a:endParaRPr lang="en-IN" sz="1700"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75491" y="148119"/>
            <a:ext cx="5652653" cy="492443"/>
          </a:xfrm>
          <a:prstGeom prst="rect">
            <a:avLst/>
          </a:prstGeom>
          <a:noFill/>
        </p:spPr>
        <p:txBody>
          <a:bodyPr wrap="square" rtlCol="0">
            <a:spAutoFit/>
          </a:bodyPr>
          <a:lstStyle/>
          <a:p>
            <a:r>
              <a:rPr lang="en-IN" sz="2600" dirty="0"/>
              <a:t>Software and Hardware Requirement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172720" y="863600"/>
            <a:ext cx="8513720" cy="5781040"/>
          </a:xfrm>
        </p:spPr>
        <p:txBody>
          <a:bodyPr anchor="t">
            <a:normAutofit/>
          </a:bodyPr>
          <a:lstStyle/>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Artificial Intelligence</a:t>
            </a:r>
            <a:r>
              <a:rPr lang="en-IN" sz="1600" dirty="0">
                <a:latin typeface="Times New Roman" panose="02020603050405020304" pitchFamily="18" charset="0"/>
                <a:cs typeface="Times New Roman" panose="02020603050405020304" pitchFamily="18" charset="0"/>
              </a:rPr>
              <a:t> </a:t>
            </a:r>
          </a:p>
          <a:p>
            <a:pPr marL="285750" lvl="1" indent="-285750">
              <a:lnSpc>
                <a:spcPct val="150000"/>
              </a:lnSpc>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OpenCV</a:t>
            </a:r>
            <a:r>
              <a:rPr lang="en-IN" sz="1600" dirty="0">
                <a:latin typeface="Times New Roman" panose="02020603050405020304" pitchFamily="18" charset="0"/>
                <a:cs typeface="Times New Roman" panose="02020603050405020304" pitchFamily="18" charset="0"/>
              </a:rPr>
              <a:t> for image processing (face detection, movement tracking) </a:t>
            </a:r>
          </a:p>
          <a:p>
            <a:pPr marL="285750" lvl="1" indent="-285750">
              <a:lnSpc>
                <a:spcPct val="150000"/>
              </a:lnSpc>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TensorFlow</a:t>
            </a:r>
            <a:r>
              <a:rPr lang="en-IN" sz="1600" dirty="0">
                <a:latin typeface="Times New Roman" panose="02020603050405020304" pitchFamily="18" charset="0"/>
                <a:cs typeface="Times New Roman" panose="02020603050405020304" pitchFamily="18" charset="0"/>
              </a:rPr>
              <a:t> for machine learning model development and inference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Real-Time Communications</a:t>
            </a:r>
            <a:endParaRPr lang="en-IN" sz="1600" dirty="0">
              <a:latin typeface="Times New Roman" panose="02020603050405020304" pitchFamily="18" charset="0"/>
              <a:cs typeface="Times New Roman" panose="02020603050405020304" pitchFamily="18" charset="0"/>
            </a:endParaRPr>
          </a:p>
          <a:p>
            <a:pPr marL="285750" lvl="1"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Socket.io</a:t>
            </a:r>
            <a:r>
              <a:rPr lang="en-IN" sz="1600" dirty="0">
                <a:latin typeface="Times New Roman" panose="02020603050405020304" pitchFamily="18" charset="0"/>
                <a:cs typeface="Times New Roman" panose="02020603050405020304" pitchFamily="18" charset="0"/>
              </a:rPr>
              <a:t> for Live monitoring and Instant alert generation</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Cloud Storage</a:t>
            </a:r>
            <a:r>
              <a:rPr lang="en-IN" sz="1600" dirty="0">
                <a:latin typeface="Times New Roman" panose="02020603050405020304" pitchFamily="18" charset="0"/>
                <a:cs typeface="Times New Roman" panose="02020603050405020304" pitchFamily="18" charset="0"/>
              </a:rPr>
              <a:t> </a:t>
            </a:r>
          </a:p>
          <a:p>
            <a:pPr marL="285750" lvl="1" indent="-285750">
              <a:lnSpc>
                <a:spcPct val="150000"/>
              </a:lnSpc>
              <a:buFont typeface="Arial" panose="020B0604020202020204" pitchFamily="34" charset="0"/>
              <a:buChar char="•"/>
            </a:pPr>
            <a:r>
              <a:rPr lang="en-IN" sz="1600" b="1" dirty="0" err="1">
                <a:latin typeface="Times New Roman" panose="02020603050405020304" pitchFamily="18" charset="0"/>
                <a:cs typeface="Times New Roman" panose="02020603050405020304" pitchFamily="18" charset="0"/>
              </a:rPr>
              <a:t>Cloudinary</a:t>
            </a:r>
            <a:r>
              <a:rPr lang="en-IN" sz="1600" b="1" dirty="0">
                <a:latin typeface="Times New Roman" panose="02020603050405020304" pitchFamily="18" charset="0"/>
                <a:cs typeface="Times New Roman" panose="02020603050405020304" pitchFamily="18" charset="0"/>
              </a:rPr>
              <a:t> / AWS</a:t>
            </a:r>
            <a:r>
              <a:rPr lang="en-IN" sz="1600" dirty="0">
                <a:latin typeface="Times New Roman" panose="02020603050405020304" pitchFamily="18" charset="0"/>
                <a:cs typeface="Times New Roman" panose="02020603050405020304" pitchFamily="18" charset="0"/>
              </a:rPr>
              <a:t> used for secure storage of recorded media </a:t>
            </a:r>
          </a:p>
          <a:p>
            <a:pPr marL="0" indent="0">
              <a:lnSpc>
                <a:spcPct val="150000"/>
              </a:lnSpc>
              <a:buNone/>
            </a:pPr>
            <a:r>
              <a:rPr lang="en-IN" sz="17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5486040" cy="914040"/>
          </a:xfrm>
        </p:spPr>
        <p:txBody>
          <a:bodyPr/>
          <a:lstStyle/>
          <a:p>
            <a:pPr algn="ctr"/>
            <a:r>
              <a:rPr lang="en-US" sz="2900" dirty="0">
                <a:latin typeface="Times New Roman" panose="02020603050405020304" pitchFamily="18" charset="0"/>
                <a:cs typeface="Times New Roman" panose="02020603050405020304" pitchFamily="18" charset="0"/>
              </a:rPr>
              <a:t>Program’s Structure Analyzing and GUI Constructing </a:t>
            </a:r>
            <a:endParaRPr lang="en-IN" sz="29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p:nvPr>
        </p:nvSpPr>
        <p:spPr>
          <a:xfrm>
            <a:off x="0" y="711200"/>
            <a:ext cx="9144000" cy="5842000"/>
          </a:xfrm>
        </p:spPr>
        <p:txBody>
          <a:bodyPr anchor="t"/>
          <a:lstStyle/>
          <a:p>
            <a:pPr algn="l"/>
            <a:endParaRPr lang="en-IN" dirty="0"/>
          </a:p>
          <a:p>
            <a:r>
              <a:rPr lang="en-IN" sz="2000" b="1" dirty="0">
                <a:latin typeface="Times New Roman" panose="02020603050405020304" pitchFamily="18" charset="0"/>
                <a:cs typeface="Times New Roman" panose="02020603050405020304" pitchFamily="18" charset="0"/>
              </a:rPr>
              <a:t>   Home Page</a:t>
            </a:r>
          </a:p>
          <a:p>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CA8A3D-420B-447E-8E4C-34975A20752F}"/>
              </a:ext>
            </a:extLst>
          </p:cNvPr>
          <p:cNvPicPr>
            <a:picLocks noChangeAspect="1"/>
          </p:cNvPicPr>
          <p:nvPr/>
        </p:nvPicPr>
        <p:blipFill>
          <a:blip r:embed="rId2">
            <a:extLst>
              <a:ext uri="{28A0092B-C50C-407E-A947-70E740481C1C}">
                <a14:useLocalDpi xmlns:a14="http://schemas.microsoft.com/office/drawing/2010/main" val="0"/>
              </a:ext>
            </a:extLst>
          </a:blip>
          <a:srcRect t="3978"/>
          <a:stretch>
            <a:fillRect/>
          </a:stretch>
        </p:blipFill>
        <p:spPr>
          <a:xfrm>
            <a:off x="0" y="1625240"/>
            <a:ext cx="9144000" cy="50705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193040" y="1097280"/>
            <a:ext cx="8493400" cy="5283200"/>
          </a:xfrm>
        </p:spPr>
        <p:txBody>
          <a:bodyPr anchor="t"/>
          <a:lstStyle/>
          <a:p>
            <a:r>
              <a:rPr lang="en-IN" sz="2000" b="1" dirty="0">
                <a:latin typeface="Times New Roman" panose="02020603050405020304" pitchFamily="18" charset="0"/>
                <a:cs typeface="Times New Roman" panose="02020603050405020304" pitchFamily="18" charset="0"/>
              </a:rPr>
              <a:t>Login Page</a:t>
            </a:r>
          </a:p>
        </p:txBody>
      </p:sp>
      <p:pic>
        <p:nvPicPr>
          <p:cNvPr id="4" name="Picture 3">
            <a:extLst>
              <a:ext uri="{FF2B5EF4-FFF2-40B4-BE49-F238E27FC236}">
                <a16:creationId xmlns:a16="http://schemas.microsoft.com/office/drawing/2014/main" id="{D539B4D9-1259-1ADD-0FCD-4409219D5698}"/>
              </a:ext>
            </a:extLst>
          </p:cNvPr>
          <p:cNvPicPr>
            <a:picLocks noChangeAspect="1"/>
          </p:cNvPicPr>
          <p:nvPr/>
        </p:nvPicPr>
        <p:blipFill>
          <a:blip r:embed="rId2">
            <a:extLst>
              <a:ext uri="{28A0092B-C50C-407E-A947-70E740481C1C}">
                <a14:useLocalDpi xmlns:a14="http://schemas.microsoft.com/office/drawing/2010/main" val="0"/>
              </a:ext>
            </a:extLst>
          </a:blip>
          <a:srcRect t="4667"/>
          <a:stretch>
            <a:fillRect/>
          </a:stretch>
        </p:blipFill>
        <p:spPr>
          <a:xfrm>
            <a:off x="0" y="1422398"/>
            <a:ext cx="9144000" cy="52832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101600" y="1198880"/>
            <a:ext cx="8849360" cy="5394960"/>
          </a:xfrm>
        </p:spPr>
        <p:txBody>
          <a:bodyPr anchor="t"/>
          <a:lstStyle/>
          <a:p>
            <a:r>
              <a:rPr lang="en-IN" sz="2000" b="1" dirty="0">
                <a:latin typeface="Times New Roman" panose="02020603050405020304" pitchFamily="18" charset="0"/>
                <a:cs typeface="Times New Roman" panose="02020603050405020304" pitchFamily="18" charset="0"/>
              </a:rPr>
              <a:t>Image</a:t>
            </a:r>
          </a:p>
        </p:txBody>
      </p:sp>
      <p:pic>
        <p:nvPicPr>
          <p:cNvPr id="4" name="Picture 3">
            <a:extLst>
              <a:ext uri="{FF2B5EF4-FFF2-40B4-BE49-F238E27FC236}">
                <a16:creationId xmlns:a16="http://schemas.microsoft.com/office/drawing/2014/main" id="{47AF6ACB-466F-55D6-EFF0-FD0F2363DB97}"/>
              </a:ext>
            </a:extLst>
          </p:cNvPr>
          <p:cNvPicPr>
            <a:picLocks noChangeAspect="1"/>
          </p:cNvPicPr>
          <p:nvPr/>
        </p:nvPicPr>
        <p:blipFill>
          <a:blip r:embed="rId2">
            <a:extLst>
              <a:ext uri="{28A0092B-C50C-407E-A947-70E740481C1C}">
                <a14:useLocalDpi xmlns:a14="http://schemas.microsoft.com/office/drawing/2010/main" val="0"/>
              </a:ext>
            </a:extLst>
          </a:blip>
          <a:srcRect t="4108"/>
          <a:stretch>
            <a:fillRect/>
          </a:stretch>
        </p:blipFill>
        <p:spPr>
          <a:xfrm>
            <a:off x="0" y="1494503"/>
            <a:ext cx="9144000" cy="51717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121920" y="1107440"/>
            <a:ext cx="8544560" cy="5476240"/>
          </a:xfrm>
        </p:spPr>
        <p:txBody>
          <a:bodyPr anchor="t"/>
          <a:lstStyle/>
          <a:p>
            <a:r>
              <a:rPr lang="en-IN" sz="2000" b="1" dirty="0">
                <a:latin typeface="Times New Roman" panose="02020603050405020304" pitchFamily="18" charset="0"/>
                <a:cs typeface="Times New Roman" panose="02020603050405020304" pitchFamily="18" charset="0"/>
              </a:rPr>
              <a:t>Image</a:t>
            </a:r>
          </a:p>
        </p:txBody>
      </p:sp>
      <p:pic>
        <p:nvPicPr>
          <p:cNvPr id="4" name="Picture 3">
            <a:extLst>
              <a:ext uri="{FF2B5EF4-FFF2-40B4-BE49-F238E27FC236}">
                <a16:creationId xmlns:a16="http://schemas.microsoft.com/office/drawing/2014/main" id="{F685D6A4-FD1C-C2B9-135C-4003FFD3B3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40180"/>
            <a:ext cx="9144000" cy="52555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585" y="0"/>
            <a:ext cx="5486040" cy="914040"/>
          </a:xfrm>
        </p:spPr>
        <p:txBody>
          <a:bodyPr/>
          <a:lstStyle/>
          <a:p>
            <a:r>
              <a:rPr lang="en-US" altLang="en-US" sz="3200">
                <a:latin typeface="Times New Roman" panose="02020603050405020304" pitchFamily="18" charset="0"/>
                <a:cs typeface="Times New Roman" panose="02020603050405020304" pitchFamily="18" charset="0"/>
                <a:sym typeface="+mn-ea"/>
              </a:rPr>
              <a:t>References</a:t>
            </a:r>
            <a:endParaRPr lang="en-US" sz="320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p:nvPr>
        </p:nvSpPr>
        <p:spPr>
          <a:xfrm>
            <a:off x="132080" y="0"/>
            <a:ext cx="5486040" cy="914040"/>
          </a:xfrm>
        </p:spPr>
        <p:txBody>
          <a:bodyPr/>
          <a:lstStyle/>
          <a:p>
            <a:pPr marL="0" indent="0">
              <a:buNone/>
            </a:pPr>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a:p>
        </p:txBody>
      </p:sp>
      <p:sp>
        <p:nvSpPr>
          <p:cNvPr id="5" name="TextBox 4"/>
          <p:cNvSpPr txBox="1"/>
          <p:nvPr/>
        </p:nvSpPr>
        <p:spPr>
          <a:xfrm>
            <a:off x="616584" y="1062182"/>
            <a:ext cx="7963997" cy="2534027"/>
          </a:xfrm>
          <a:prstGeom prst="rect">
            <a:avLst/>
          </a:prstGeom>
          <a:noFill/>
        </p:spPr>
        <p:txBody>
          <a:bodyPr wrap="square" rtlCol="0">
            <a:spAutoFit/>
          </a:bodyPr>
          <a:lstStyle/>
          <a:p>
            <a:pPr marL="400050" indent="-400050">
              <a:lnSpc>
                <a:spcPct val="150000"/>
              </a:lnSpc>
              <a:buFont typeface="+mj-lt"/>
              <a:buAutoNum type="romanUcPeriod"/>
            </a:pPr>
            <a:endParaRPr lang="en-US" altLang="en-US" dirty="0"/>
          </a:p>
          <a:p>
            <a:pPr marL="400050" indent="-400050">
              <a:lnSpc>
                <a:spcPct val="150000"/>
              </a:lnSpc>
              <a:buFont typeface="+mj-lt"/>
              <a:buAutoNum type="romanUcPeriod"/>
            </a:pPr>
            <a:r>
              <a:rPr lang="en-US" altLang="en-US" dirty="0"/>
              <a:t>React.js Official Documentation: </a:t>
            </a:r>
            <a:r>
              <a:rPr lang="en-US" altLang="en-US" dirty="0">
                <a:hlinkClick r:id="rId2" action="ppaction://hlinkfile"/>
              </a:rPr>
              <a:t>https://reactjs.org/</a:t>
            </a:r>
            <a:endParaRPr lang="en-US" altLang="en-US" dirty="0"/>
          </a:p>
          <a:p>
            <a:pPr marL="400050" indent="-400050">
              <a:lnSpc>
                <a:spcPct val="150000"/>
              </a:lnSpc>
              <a:buFont typeface="+mj-lt"/>
              <a:buAutoNum type="romanUcPeriod"/>
            </a:pPr>
            <a:r>
              <a:rPr lang="en-US" altLang="en-US" dirty="0"/>
              <a:t>MongoDB Developer Guides:</a:t>
            </a:r>
            <a:r>
              <a:rPr lang="en-IN" altLang="en-US" dirty="0">
                <a:hlinkClick r:id="rId3" action="ppaction://hlinkfile"/>
              </a:rPr>
              <a:t> </a:t>
            </a:r>
            <a:r>
              <a:rPr lang="en-US" altLang="en-US" dirty="0">
                <a:hlinkClick r:id="rId3" action="ppaction://hlinkfile"/>
              </a:rPr>
              <a:t>https://www.mongodb.com/docs/</a:t>
            </a:r>
            <a:endParaRPr lang="en-US" altLang="en-US" dirty="0"/>
          </a:p>
          <a:p>
            <a:pPr marL="400050" indent="-400050">
              <a:lnSpc>
                <a:spcPct val="150000"/>
              </a:lnSpc>
              <a:buFont typeface="+mj-lt"/>
              <a:buAutoNum type="romanUcPeriod"/>
            </a:pPr>
            <a:r>
              <a:rPr lang="en-US" altLang="en-US" dirty="0"/>
              <a:t>Node.js Official Documentation: </a:t>
            </a:r>
            <a:r>
              <a:rPr lang="en-US" altLang="en-US" dirty="0">
                <a:hlinkClick r:id="rId4" action="ppaction://hlinkfile"/>
              </a:rPr>
              <a:t>https://nodejs.org/en/docs/ </a:t>
            </a:r>
            <a:endParaRPr lang="en-US" altLang="en-US" dirty="0"/>
          </a:p>
          <a:p>
            <a:pPr marL="400050" indent="-400050">
              <a:lnSpc>
                <a:spcPct val="150000"/>
              </a:lnSpc>
              <a:buFont typeface="+mj-lt"/>
              <a:buAutoNum type="romanUcPeriod"/>
            </a:pPr>
            <a:r>
              <a:rPr lang="en-US" altLang="en-US" dirty="0"/>
              <a:t>GitHub Docs - Getting Started:</a:t>
            </a:r>
            <a:r>
              <a:rPr lang="en-US" altLang="en-US" dirty="0">
                <a:hlinkClick r:id="rId5" action="ppaction://hlinkfile"/>
              </a:rPr>
              <a:t> https://docs.github.com/en/get</a:t>
            </a:r>
            <a:r>
              <a:rPr lang="en-IN" altLang="en-US" dirty="0">
                <a:hlinkClick r:id="rId5" action="ppaction://hlinkfile"/>
              </a:rPr>
              <a:t>-</a:t>
            </a:r>
            <a:r>
              <a:rPr lang="en-US" altLang="en-US" dirty="0">
                <a:hlinkClick r:id="rId5" action="ppaction://hlinkfile"/>
              </a:rPr>
              <a:t>started </a:t>
            </a:r>
            <a:endParaRPr lang="en-US" altLang="en-US" dirty="0"/>
          </a:p>
          <a:p>
            <a:pPr marL="400050" indent="-400050">
              <a:lnSpc>
                <a:spcPct val="150000"/>
              </a:lnSpc>
              <a:buFont typeface="+mj-lt"/>
              <a:buAutoNum type="romanUcPeriod"/>
            </a:pP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457200" y="1323975"/>
            <a:ext cx="8228965" cy="4573270"/>
          </a:xfrm>
        </p:spPr>
        <p:txBody>
          <a:bodyPr/>
          <a:lstStyle/>
          <a:p>
            <a:pPr marL="457200" lvl="1" indent="457200">
              <a:buNone/>
            </a:pPr>
            <a:endParaRPr lang="en-IN" altLang="en-US" sz="8800">
              <a:ln w="22225">
                <a:solidFill>
                  <a:schemeClr val="accent2"/>
                </a:solidFill>
                <a:prstDash val="solid"/>
              </a:ln>
              <a:solidFill>
                <a:schemeClr val="accent2">
                  <a:lumMod val="40000"/>
                  <a:lumOff val="60000"/>
                </a:schemeClr>
              </a:solidFill>
              <a:effectLst/>
            </a:endParaRPr>
          </a:p>
        </p:txBody>
      </p:sp>
      <p:pic>
        <p:nvPicPr>
          <p:cNvPr id="7" name="Picture 6" descr="Screenshot 2025-12-14 125907"/>
          <p:cNvPicPr>
            <a:picLocks noChangeAspect="1"/>
          </p:cNvPicPr>
          <p:nvPr/>
        </p:nvPicPr>
        <p:blipFill>
          <a:blip r:embed="rId2"/>
          <a:stretch>
            <a:fillRect/>
          </a:stretch>
        </p:blipFill>
        <p:spPr>
          <a:xfrm>
            <a:off x="457835" y="974090"/>
            <a:ext cx="8300085" cy="53530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datastoreItem>
</file>

<file path=customXml/itemProps2.xml><?xml version="1.0" encoding="utf-8"?>
<ds:datastoreItem xmlns:ds="http://schemas.openxmlformats.org/officeDocument/2006/customXml" ds:itemID="{4A62A602-78C1-468C-BB25-57CD481DB741}">
  <ds:schemaRefs/>
</ds:datastoreItem>
</file>

<file path=customXml/itemProps3.xml><?xml version="1.0" encoding="utf-8"?>
<ds:datastoreItem xmlns:ds="http://schemas.openxmlformats.org/officeDocument/2006/customXml" ds:itemID="{491DF113-39A2-46D5-BFDA-E63300A9ECAB}">
  <ds:schemaRefs/>
</ds:datastoreItem>
</file>

<file path=docProps/app.xml><?xml version="1.0" encoding="utf-8"?>
<Properties xmlns="http://schemas.openxmlformats.org/officeDocument/2006/extended-properties" xmlns:vt="http://schemas.openxmlformats.org/officeDocument/2006/docPropsVTypes">
  <TotalTime>195</TotalTime>
  <Words>846</Words>
  <Application>Microsoft Office PowerPoint</Application>
  <PresentationFormat>On-screen Show (4:3)</PresentationFormat>
  <Paragraphs>145</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Problem statement</vt:lpstr>
      <vt:lpstr>PowerPoint Presentation</vt:lpstr>
      <vt:lpstr>Features</vt:lpstr>
      <vt:lpstr>PowerPoint Presentation</vt:lpstr>
      <vt:lpstr>PowerPoint Presentation</vt:lpstr>
      <vt:lpstr>Program’s Structure Analyzing and GUI Constructing </vt:lpstr>
      <vt:lpstr>PowerPoint Presentation</vt:lpstr>
      <vt:lpstr>PowerPoint Presentation</vt:lpstr>
      <vt:lpstr>PowerPoint Presentation</vt:lpstr>
      <vt:lpstr>References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Dilpreet Sandhu</cp:lastModifiedBy>
  <cp:revision>2336</cp:revision>
  <dcterms:created xsi:type="dcterms:W3CDTF">2010-04-09T07:36:00Z</dcterms:created>
  <dcterms:modified xsi:type="dcterms:W3CDTF">2026-05-08T17:43:13Z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y fmtid="{D5CDD505-2E9C-101B-9397-08002B2CF9AE}" pid="14" name="ICV">
    <vt:lpwstr>469745CA62164BD89BACF70D728FF697_13</vt:lpwstr>
  </property>
  <property fmtid="{D5CDD505-2E9C-101B-9397-08002B2CF9AE}" pid="15" name="KSOProductBuildVer">
    <vt:lpwstr>1033-12.2.0.23155</vt:lpwstr>
  </property>
</Properties>
</file>